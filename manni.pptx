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7" r:id="rId6"/>
    <p:sldId id="266" r:id="rId7"/>
    <p:sldId id="261" r:id="rId8"/>
    <p:sldId id="263" r:id="rId9"/>
    <p:sldId id="264" r:id="rId10"/>
    <p:sldId id="269" r:id="rId11"/>
    <p:sldId id="268"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51" autoAdjust="0"/>
    <p:restoredTop sz="94660"/>
  </p:normalViewPr>
  <p:slideViewPr>
    <p:cSldViewPr snapToGrid="0">
      <p:cViewPr varScale="1">
        <p:scale>
          <a:sx n="88" d="100"/>
          <a:sy n="88" d="100"/>
        </p:scale>
        <p:origin x="23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11/23/2025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11/23/2025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11/23/2025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11/23/2025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11/23/2025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11/23/2025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11/23/2025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374075"/>
            <a:ext cx="8825658" cy="2084454"/>
          </a:xfrm>
        </p:spPr>
        <p:txBody>
          <a:bodyPr/>
          <a:lstStyle/>
          <a:p>
            <a:r>
              <a:rPr lang="en-IN" sz="4000" b="1" dirty="0" smtClean="0">
                <a:solidFill>
                  <a:srgbClr val="0070C0"/>
                </a:solidFill>
                <a:latin typeface="Times New Roman" panose="02020603050405020304" pitchFamily="18" charset="0"/>
                <a:cs typeface="Times New Roman" panose="02020603050405020304" pitchFamily="18" charset="0"/>
              </a:rPr>
              <a:t>K.K.COLLAGE OF ENGINEERING &amp; MANAGEMENT</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54955" y="3013363"/>
            <a:ext cx="9048918" cy="3325091"/>
          </a:xfrm>
        </p:spPr>
        <p:txBody>
          <a:bodyPr>
            <a:normAutofit/>
          </a:bodyPr>
          <a:lstStyle/>
          <a:p>
            <a:pPr algn="ctr"/>
            <a:r>
              <a:rPr lang="en-IN" sz="2800" dirty="0" smtClean="0">
                <a:latin typeface="Times New Roman" panose="02020603050405020304" pitchFamily="18" charset="0"/>
                <a:cs typeface="Times New Roman" panose="02020603050405020304" pitchFamily="18" charset="0"/>
              </a:rPr>
              <a:t>Project Presentation on</a:t>
            </a:r>
          </a:p>
          <a:p>
            <a:pPr algn="ctr"/>
            <a:r>
              <a:rPr lang="en-IN" sz="2800" dirty="0" smtClean="0">
                <a:latin typeface="Times New Roman" panose="02020603050405020304" pitchFamily="18" charset="0"/>
                <a:cs typeface="Times New Roman" panose="02020603050405020304" pitchFamily="18" charset="0"/>
              </a:rPr>
              <a:t>(Online Voting System)</a:t>
            </a:r>
          </a:p>
          <a:p>
            <a:pPr algn="ctr"/>
            <a:endParaRPr lang="en-IN" sz="2800" dirty="0">
              <a:latin typeface="Times New Roman" panose="02020603050405020304" pitchFamily="18" charset="0"/>
              <a:cs typeface="Times New Roman" panose="02020603050405020304" pitchFamily="18" charset="0"/>
            </a:endParaRPr>
          </a:p>
          <a:p>
            <a:pPr algn="r"/>
            <a:r>
              <a:rPr lang="en-IN" sz="2800" dirty="0" smtClean="0">
                <a:latin typeface="Times New Roman" panose="02020603050405020304" pitchFamily="18" charset="0"/>
                <a:cs typeface="Times New Roman" panose="02020603050405020304" pitchFamily="18" charset="0"/>
              </a:rPr>
              <a:t>Submitted by-</a:t>
            </a:r>
          </a:p>
          <a:p>
            <a:pPr algn="r"/>
            <a:r>
              <a:rPr lang="en-IN" sz="2800" dirty="0" err="1" smtClean="0">
                <a:latin typeface="Times New Roman" panose="02020603050405020304" pitchFamily="18" charset="0"/>
                <a:cs typeface="Times New Roman" panose="02020603050405020304" pitchFamily="18" charset="0"/>
              </a:rPr>
              <a:t>Chandramani</a:t>
            </a:r>
            <a:r>
              <a:rPr lang="en-IN" sz="2800" dirty="0" smtClean="0">
                <a:latin typeface="Times New Roman" panose="02020603050405020304" pitchFamily="18" charset="0"/>
                <a:cs typeface="Times New Roman" panose="02020603050405020304" pitchFamily="18" charset="0"/>
              </a:rPr>
              <a:t> </a:t>
            </a:r>
            <a:r>
              <a:rPr lang="en-IN" sz="2800" dirty="0" err="1" smtClean="0">
                <a:latin typeface="Times New Roman" panose="02020603050405020304" pitchFamily="18" charset="0"/>
                <a:cs typeface="Times New Roman" panose="02020603050405020304" pitchFamily="18" charset="0"/>
              </a:rPr>
              <a:t>kumari</a:t>
            </a:r>
            <a:endParaRPr lang="en-IN" sz="2800" dirty="0" smtClean="0">
              <a:latin typeface="Times New Roman" panose="02020603050405020304" pitchFamily="18" charset="0"/>
              <a:cs typeface="Times New Roman" panose="02020603050405020304" pitchFamily="18" charset="0"/>
            </a:endParaRPr>
          </a:p>
          <a:p>
            <a:pPr algn="r"/>
            <a:r>
              <a:rPr lang="en-IN" sz="2800" dirty="0" err="1" smtClean="0">
                <a:latin typeface="Times New Roman" panose="02020603050405020304" pitchFamily="18" charset="0"/>
                <a:cs typeface="Times New Roman" panose="02020603050405020304" pitchFamily="18" charset="0"/>
              </a:rPr>
              <a:t>Sanjana</a:t>
            </a:r>
            <a:r>
              <a:rPr lang="en-IN" sz="2800" dirty="0" smtClean="0">
                <a:latin typeface="Times New Roman" panose="02020603050405020304" pitchFamily="18" charset="0"/>
                <a:cs typeface="Times New Roman" panose="02020603050405020304" pitchFamily="18" charset="0"/>
              </a:rPr>
              <a:t> </a:t>
            </a:r>
            <a:r>
              <a:rPr lang="en-IN" sz="2800" dirty="0" err="1" smtClean="0">
                <a:latin typeface="Times New Roman" panose="02020603050405020304" pitchFamily="18" charset="0"/>
                <a:cs typeface="Times New Roman" panose="02020603050405020304" pitchFamily="18" charset="0"/>
              </a:rPr>
              <a:t>sahu</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009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anose="02020603050405020304" pitchFamily="18" charset="0"/>
                <a:cs typeface="Times New Roman" panose="02020603050405020304" pitchFamily="18" charset="0"/>
              </a:rPr>
              <a:t>OUTLINES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46112" y="2052918"/>
            <a:ext cx="9403742" cy="4195481"/>
          </a:xfrm>
        </p:spPr>
        <p:txBody>
          <a:bodyPr>
            <a:normAutofit/>
          </a:bodyPr>
          <a:lstStyle/>
          <a:p>
            <a:r>
              <a:rPr lang="en-IN" sz="2400" dirty="0">
                <a:latin typeface="Times New Roman" panose="02020603050405020304" pitchFamily="18" charset="0"/>
                <a:cs typeface="Times New Roman" panose="02020603050405020304" pitchFamily="18" charset="0"/>
              </a:rPr>
              <a:t>Introduction</a:t>
            </a:r>
          </a:p>
          <a:p>
            <a:r>
              <a:rPr lang="en-IN" sz="2400" dirty="0">
                <a:latin typeface="Times New Roman" panose="02020603050405020304" pitchFamily="18" charset="0"/>
                <a:cs typeface="Times New Roman" panose="02020603050405020304" pitchFamily="18" charset="0"/>
              </a:rPr>
              <a:t>Problem Statement</a:t>
            </a:r>
          </a:p>
          <a:p>
            <a:r>
              <a:rPr lang="en-IN" sz="2400" dirty="0" smtClean="0">
                <a:latin typeface="Times New Roman" panose="02020603050405020304" pitchFamily="18" charset="0"/>
                <a:cs typeface="Times New Roman" panose="02020603050405020304" pitchFamily="18" charset="0"/>
              </a:rPr>
              <a:t>System </a:t>
            </a:r>
            <a:r>
              <a:rPr lang="en-IN" sz="2400" dirty="0">
                <a:latin typeface="Times New Roman" panose="02020603050405020304" pitchFamily="18" charset="0"/>
                <a:cs typeface="Times New Roman" panose="02020603050405020304" pitchFamily="18" charset="0"/>
              </a:rPr>
              <a:t>Architecture</a:t>
            </a:r>
          </a:p>
          <a:p>
            <a:r>
              <a:rPr lang="en-IN" sz="2400" dirty="0">
                <a:latin typeface="Times New Roman" panose="02020603050405020304" pitchFamily="18" charset="0"/>
                <a:cs typeface="Times New Roman" panose="02020603050405020304" pitchFamily="18" charset="0"/>
              </a:rPr>
              <a:t>Technology Use</a:t>
            </a:r>
          </a:p>
          <a:p>
            <a:r>
              <a:rPr lang="en-IN" sz="2400" dirty="0">
                <a:latin typeface="Times New Roman" panose="02020603050405020304" pitchFamily="18" charset="0"/>
                <a:cs typeface="Times New Roman" panose="02020603050405020304" pitchFamily="18" charset="0"/>
              </a:rPr>
              <a:t>Live Demo</a:t>
            </a:r>
          </a:p>
          <a:p>
            <a:r>
              <a:rPr lang="en-IN" sz="2400" dirty="0" smtClean="0">
                <a:latin typeface="Times New Roman" panose="02020603050405020304" pitchFamily="18" charset="0"/>
                <a:cs typeface="Times New Roman" panose="02020603050405020304" pitchFamily="18" charset="0"/>
              </a:rPr>
              <a:t>Advantage</a:t>
            </a:r>
          </a:p>
          <a:p>
            <a:r>
              <a:rPr lang="en-IN" sz="2400" dirty="0" smtClean="0">
                <a:latin typeface="Times New Roman" panose="02020603050405020304" pitchFamily="18" charset="0"/>
                <a:cs typeface="Times New Roman" panose="02020603050405020304" pitchFamily="18" charset="0"/>
              </a:rPr>
              <a:t>Limitation</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Conclusion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1131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IN" sz="2400" dirty="0" smtClean="0">
                <a:latin typeface="Times New Roman" panose="02020603050405020304" pitchFamily="18" charset="0"/>
                <a:cs typeface="Times New Roman" panose="02020603050405020304" pitchFamily="18" charset="0"/>
              </a:rPr>
              <a:t>“ONLINE VOTING SYSTEM” is a web based application in which voter can use his/her voting right online without any difficulty. He \she has to fill a registration form to register himself\herself. All the entries is checked by the DATABASE which has already all information about the voter. If all the entries are correct then a USER ID and PASSWORD is given to the voter , by using  that ID and PASSWORD he\she can use his\her vote. If condition are wrong then entry will be discarded</a:t>
            </a:r>
          </a:p>
        </p:txBody>
      </p:sp>
    </p:spTree>
    <p:extLst>
      <p:ext uri="{BB962C8B-B14F-4D97-AF65-F5344CB8AC3E}">
        <p14:creationId xmlns:p14="http://schemas.microsoft.com/office/powerpoint/2010/main" val="121085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b="1" dirty="0">
                <a:latin typeface="Times New Roman" panose="02020603050405020304" pitchFamily="18" charset="0"/>
                <a:cs typeface="Times New Roman" panose="02020603050405020304" pitchFamily="18" charset="0"/>
              </a:rPr>
              <a:t>Problem Statement</a:t>
            </a:r>
            <a:r>
              <a:rPr lang="en-IN" sz="4400" dirty="0">
                <a:latin typeface="Times New Roman" panose="02020603050405020304" pitchFamily="18" charset="0"/>
                <a:cs typeface="Times New Roman" panose="02020603050405020304" pitchFamily="18" charset="0"/>
              </a:rPr>
              <a:t/>
            </a:r>
            <a:br>
              <a:rPr lang="en-IN" sz="4400"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Now-a-days people find very less time to cast the vote .And there are several issues where India, democratic country is unable to get polling of 100%.In order to make voting easy and secure , online voting system</a:t>
            </a:r>
          </a:p>
          <a:p>
            <a:r>
              <a:rPr lang="en-IN" sz="2400" dirty="0">
                <a:latin typeface="Times New Roman" panose="02020603050405020304" pitchFamily="18" charset="0"/>
                <a:cs typeface="Times New Roman" panose="02020603050405020304" pitchFamily="18" charset="0"/>
              </a:rPr>
              <a:t>helpful. Voter has to register first and then login .Voter is authenticated and then proceed to voting page . Voter cast the vote and logout. One can view the results at any instance of time .</a:t>
            </a:r>
          </a:p>
          <a:p>
            <a:r>
              <a:rPr lang="en-I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07101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b="1" dirty="0">
                <a:latin typeface="Times New Roman" panose="02020603050405020304" pitchFamily="18" charset="0"/>
                <a:cs typeface="Times New Roman" panose="02020603050405020304" pitchFamily="18" charset="0"/>
              </a:rPr>
              <a:t>System </a:t>
            </a:r>
            <a:r>
              <a:rPr lang="en-IN" sz="2400" b="1" dirty="0" smtClean="0">
                <a:latin typeface="Times New Roman" panose="02020603050405020304" pitchFamily="18" charset="0"/>
                <a:cs typeface="Times New Roman" panose="02020603050405020304" pitchFamily="18" charset="0"/>
              </a:rPr>
              <a:t>Architecture</a:t>
            </a:r>
            <a:br>
              <a:rPr lang="en-IN" sz="2400" b="1" dirty="0" smtClean="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pic>
        <p:nvPicPr>
          <p:cNvPr id="16" name="Content Placeholder 1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65562" y="1464065"/>
            <a:ext cx="5486399" cy="4784336"/>
          </a:xfrm>
        </p:spPr>
      </p:pic>
    </p:spTree>
    <p:extLst>
      <p:ext uri="{BB962C8B-B14F-4D97-AF65-F5344CB8AC3E}">
        <p14:creationId xmlns:p14="http://schemas.microsoft.com/office/powerpoint/2010/main" val="1260203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a:latin typeface="Times New Roman" panose="02020603050405020304" pitchFamily="18" charset="0"/>
                <a:cs typeface="Times New Roman" panose="02020603050405020304" pitchFamily="18" charset="0"/>
              </a:rPr>
              <a:t/>
            </a:r>
            <a:br>
              <a:rPr lang="en-IN" sz="4400" dirty="0">
                <a:latin typeface="Times New Roman" panose="02020603050405020304" pitchFamily="18" charset="0"/>
                <a:cs typeface="Times New Roman" panose="02020603050405020304" pitchFamily="18" charset="0"/>
              </a:rPr>
            </a:br>
            <a:endParaRPr lang="en-IN" dirty="0"/>
          </a:p>
        </p:txBody>
      </p:sp>
      <p:pic>
        <p:nvPicPr>
          <p:cNvPr id="14" name="Content Placeholder 1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0671" y="1931868"/>
            <a:ext cx="7917950" cy="3772983"/>
          </a:xfrm>
        </p:spPr>
      </p:pic>
      <p:sp>
        <p:nvSpPr>
          <p:cNvPr id="15" name="Rectangle 14"/>
          <p:cNvSpPr/>
          <p:nvPr/>
        </p:nvSpPr>
        <p:spPr>
          <a:xfrm>
            <a:off x="1066311" y="665036"/>
            <a:ext cx="2893214"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CLASS DIAGRAM</a:t>
            </a:r>
            <a:endParaRPr lang="en-IN" dirty="0"/>
          </a:p>
        </p:txBody>
      </p:sp>
    </p:spTree>
    <p:extLst>
      <p:ext uri="{BB962C8B-B14F-4D97-AF65-F5344CB8AC3E}">
        <p14:creationId xmlns:p14="http://schemas.microsoft.com/office/powerpoint/2010/main" val="828496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800" b="1" dirty="0" smtClean="0">
                <a:latin typeface="Times New Roman" panose="02020603050405020304" pitchFamily="18" charset="0"/>
                <a:cs typeface="Times New Roman" panose="02020603050405020304" pitchFamily="18" charset="0"/>
              </a:rPr>
              <a:t>TECHNOLOGY USED</a:t>
            </a:r>
            <a:endParaRPr lang="en-IN"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IN" sz="2800" b="1" dirty="0" smtClean="0">
                <a:latin typeface="Times New Roman" panose="02020603050405020304" pitchFamily="18" charset="0"/>
                <a:cs typeface="Times New Roman" panose="02020603050405020304" pitchFamily="18" charset="0"/>
              </a:rPr>
              <a:t>Front-end:</a:t>
            </a:r>
          </a:p>
          <a:p>
            <a:pPr lvl="0"/>
            <a:r>
              <a:rPr lang="en-IN" sz="2400" dirty="0">
                <a:latin typeface="Times New Roman" panose="02020603050405020304" pitchFamily="18" charset="0"/>
                <a:cs typeface="Times New Roman" panose="02020603050405020304" pitchFamily="18" charset="0"/>
              </a:rPr>
              <a:t>HTML                                                                                     </a:t>
            </a:r>
          </a:p>
          <a:p>
            <a:pPr lvl="0"/>
            <a:r>
              <a:rPr lang="en-IN" sz="2400" dirty="0">
                <a:latin typeface="Times New Roman" panose="02020603050405020304" pitchFamily="18" charset="0"/>
                <a:cs typeface="Times New Roman" panose="02020603050405020304" pitchFamily="18" charset="0"/>
              </a:rPr>
              <a:t> CSS                                                                                        </a:t>
            </a:r>
          </a:p>
          <a:p>
            <a:r>
              <a:rPr lang="en-IN" sz="2400" dirty="0">
                <a:latin typeface="Times New Roman" panose="02020603050405020304" pitchFamily="18" charset="0"/>
                <a:cs typeface="Times New Roman" panose="02020603050405020304" pitchFamily="18" charset="0"/>
              </a:rPr>
              <a:t> PHP                                                                                         </a:t>
            </a:r>
          </a:p>
          <a:p>
            <a:r>
              <a:rPr lang="en-IN" sz="2400"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JAVASCRIPT</a:t>
            </a:r>
          </a:p>
          <a:p>
            <a:pPr marL="0" indent="0">
              <a:buNone/>
            </a:pPr>
            <a:r>
              <a:rPr lang="en-IN" sz="2800" b="1" dirty="0" smtClean="0">
                <a:latin typeface="Times New Roman" panose="02020603050405020304" pitchFamily="18" charset="0"/>
                <a:cs typeface="Times New Roman" panose="02020603050405020304" pitchFamily="18" charset="0"/>
              </a:rPr>
              <a:t>Back-end:</a:t>
            </a:r>
          </a:p>
          <a:p>
            <a:r>
              <a:rPr lang="en-IN" sz="2400" dirty="0" smtClean="0">
                <a:latin typeface="Times New Roman" panose="02020603050405020304" pitchFamily="18" charset="0"/>
                <a:cs typeface="Times New Roman" panose="02020603050405020304" pitchFamily="18" charset="0"/>
              </a:rPr>
              <a:t>PHP</a:t>
            </a:r>
          </a:p>
          <a:p>
            <a:r>
              <a:rPr lang="en-IN" sz="2400" dirty="0" smtClean="0">
                <a:latin typeface="Times New Roman" panose="02020603050405020304" pitchFamily="18" charset="0"/>
                <a:cs typeface="Times New Roman" panose="02020603050405020304" pitchFamily="18" charset="0"/>
              </a:rPr>
              <a:t>MYSQL</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88735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60273" y="2784764"/>
            <a:ext cx="2743199" cy="584775"/>
          </a:xfrm>
          <a:prstGeom prst="rect">
            <a:avLst/>
          </a:prstGeom>
        </p:spPr>
        <p:txBody>
          <a:bodyPr wrap="square">
            <a:spAutoFit/>
          </a:bodyPr>
          <a:lstStyle/>
          <a:p>
            <a:r>
              <a:rPr lang="en-IN" sz="3200" b="1" dirty="0">
                <a:latin typeface="Times New Roman" panose="02020603050405020304" pitchFamily="18" charset="0"/>
                <a:cs typeface="Times New Roman" panose="02020603050405020304" pitchFamily="18" charset="0"/>
              </a:rPr>
              <a:t>LIVE DEMO</a:t>
            </a:r>
          </a:p>
        </p:txBody>
      </p:sp>
    </p:spTree>
    <p:extLst>
      <p:ext uri="{BB962C8B-B14F-4D97-AF65-F5344CB8AC3E}">
        <p14:creationId xmlns:p14="http://schemas.microsoft.com/office/powerpoint/2010/main" val="522333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5467" y="530356"/>
            <a:ext cx="9205255" cy="1031025"/>
          </a:xfrm>
        </p:spPr>
        <p:txBody>
          <a:bodyPr/>
          <a:lstStyle/>
          <a:p>
            <a:r>
              <a:rPr lang="en-IN" sz="2400" b="1" dirty="0" smtClean="0">
                <a:latin typeface="Times New Roman" panose="02020603050405020304" pitchFamily="18" charset="0"/>
                <a:cs typeface="Times New Roman" panose="02020603050405020304" pitchFamily="18" charset="0"/>
              </a:rPr>
              <a:t>ADVANTAGE</a:t>
            </a:r>
            <a:endParaRPr lang="en-IN"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7829" y="1630393"/>
            <a:ext cx="8946541" cy="4375664"/>
          </a:xfrm>
        </p:spPr>
        <p:txBody>
          <a:bodyPr>
            <a:noAutofit/>
          </a:bodyPr>
          <a:lstStyle/>
          <a:p>
            <a:pPr lvl="0">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Increased Accessibility and Convenience:</a:t>
            </a:r>
            <a:r>
              <a:rPr lang="en-IN" sz="1800" dirty="0">
                <a:latin typeface="Times New Roman" panose="02020603050405020304" pitchFamily="18" charset="0"/>
                <a:cs typeface="Times New Roman" panose="02020603050405020304" pitchFamily="18" charset="0"/>
              </a:rPr>
              <a:t> Voters can cast their ballots from any </a:t>
            </a:r>
            <a:r>
              <a:rPr lang="en-IN" sz="1800" dirty="0" smtClean="0">
                <a:latin typeface="Times New Roman" panose="02020603050405020304" pitchFamily="18" charset="0"/>
                <a:cs typeface="Times New Roman" panose="02020603050405020304" pitchFamily="18" charset="0"/>
              </a:rPr>
              <a:t>location </a:t>
            </a:r>
            <a:r>
              <a:rPr lang="en-IN" sz="1800" dirty="0">
                <a:latin typeface="Times New Roman" panose="02020603050405020304" pitchFamily="18" charset="0"/>
                <a:cs typeface="Times New Roman" panose="02020603050405020304" pitchFamily="18" charset="0"/>
              </a:rPr>
              <a:t>with internet access, using a computer, tablet, or smartphone. This </a:t>
            </a:r>
            <a:r>
              <a:rPr lang="en-IN" sz="1800" dirty="0" smtClean="0">
                <a:latin typeface="Times New Roman" panose="02020603050405020304" pitchFamily="18" charset="0"/>
                <a:cs typeface="Times New Roman" panose="02020603050405020304" pitchFamily="18" charset="0"/>
              </a:rPr>
              <a:t>is particularly </a:t>
            </a:r>
            <a:r>
              <a:rPr lang="en-IN" sz="1800" dirty="0">
                <a:latin typeface="Times New Roman" panose="02020603050405020304" pitchFamily="18" charset="0"/>
                <a:cs typeface="Times New Roman" panose="02020603050405020304" pitchFamily="18" charset="0"/>
              </a:rPr>
              <a:t>beneficial for people with disabilities, citizens living abroad or in remote areas, and those who are sick or busy, as it eliminates the need to travel to a physical polling station and wait in lines.</a:t>
            </a:r>
          </a:p>
          <a:p>
            <a:pPr lvl="0">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Higher Voter Turnout and Engagement:</a:t>
            </a:r>
            <a:r>
              <a:rPr lang="en-IN" sz="1800" dirty="0">
                <a:latin typeface="Times New Roman" panose="02020603050405020304" pitchFamily="18" charset="0"/>
                <a:cs typeface="Times New Roman" panose="02020603050405020304" pitchFamily="18" charset="0"/>
              </a:rPr>
              <a:t> The convenience and flexibility of remote voting reduce barriers to participation, which can lead to a substantial increase in voter turnout, especially among younger, more tech-savvy demographics.</a:t>
            </a:r>
          </a:p>
          <a:p>
            <a:pPr lvl="0">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Cost and Time Efficiency:</a:t>
            </a:r>
            <a:r>
              <a:rPr lang="en-IN" sz="1800" dirty="0">
                <a:latin typeface="Times New Roman" panose="02020603050405020304" pitchFamily="18" charset="0"/>
                <a:cs typeface="Times New Roman" panose="02020603050405020304" pitchFamily="18" charset="0"/>
              </a:rPr>
              <a:t> Online voting significantly reduces the expenses associated with traditional elections, such as printing and transporting paper ballots, renting polling locations, and hiring large numbers of manual counting staff. The automatic counting process also saves considerable time, allowing for the rapid reporting of election results, often instantly after polls close.</a:t>
            </a:r>
          </a:p>
          <a:p>
            <a:endParaRPr lang="en-IN" sz="1400" dirty="0"/>
          </a:p>
        </p:txBody>
      </p:sp>
    </p:spTree>
    <p:extLst>
      <p:ext uri="{BB962C8B-B14F-4D97-AF65-F5344CB8AC3E}">
        <p14:creationId xmlns:p14="http://schemas.microsoft.com/office/powerpoint/2010/main" val="280054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3192" y="2053086"/>
            <a:ext cx="8617788" cy="3416320"/>
          </a:xfrm>
          <a:prstGeom prst="rect">
            <a:avLst/>
          </a:prstGeom>
        </p:spPr>
        <p:txBody>
          <a:bodyPr wrap="square">
            <a:spAutoFit/>
          </a:bodyPr>
          <a:lstStyle/>
          <a:p>
            <a:pPr marL="285750" lvl="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Enhanced Accuracy and Reduced Errors:</a:t>
            </a:r>
            <a:r>
              <a:rPr lang="en-IN" dirty="0">
                <a:latin typeface="Times New Roman" panose="02020603050405020304" pitchFamily="18" charset="0"/>
                <a:cs typeface="Times New Roman" panose="02020603050405020304" pitchFamily="18" charset="0"/>
              </a:rPr>
              <a:t> By automating the vote counting process, online systems minimize the risk of human errors such as miscounts or lost ballots. The systems can also provide immediate feedback to voters, detecting potential problems</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like over-voting (selecting too many candidates).</a:t>
            </a:r>
          </a:p>
          <a:p>
            <a:pPr marL="285750" lvl="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Improved Security and Auditability (with proper implementation): </a:t>
            </a:r>
            <a:r>
              <a:rPr lang="en-IN" dirty="0">
                <a:latin typeface="Times New Roman" panose="02020603050405020304" pitchFamily="18" charset="0"/>
                <a:cs typeface="Times New Roman" panose="02020603050405020304" pitchFamily="18" charset="0"/>
              </a:rPr>
              <a:t>Reputable online voting platforms employ robust security measures, including advanced encryption, multi-factor authentication, and unique voter identification, to protect voter data and ensure the integrity of the vote. Many systems offer detailed audit trails, allowing administrators to verify that the process was fair and results were not manipulated.</a:t>
            </a:r>
          </a:p>
          <a:p>
            <a:pPr marL="285750" lvl="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Environmental Benefits:</a:t>
            </a:r>
            <a:r>
              <a:rPr lang="en-IN" dirty="0">
                <a:latin typeface="Times New Roman" panose="02020603050405020304" pitchFamily="18" charset="0"/>
                <a:cs typeface="Times New Roman" panose="02020603050405020304" pitchFamily="18" charset="0"/>
              </a:rPr>
              <a:t> Eliminating the extensive use of paper ballots and reducing transportation needs for both voters and election materials contributes to environmental sustainability.</a:t>
            </a:r>
            <a:endParaRPr lang="en-IN" dirty="0">
              <a:latin typeface="Times New Roman" panose="02020603050405020304" pitchFamily="18" charset="0"/>
              <a:cs typeface="Times New Roman" panose="02020603050405020304" pitchFamily="18" charset="0"/>
            </a:endParaRPr>
          </a:p>
        </p:txBody>
      </p:sp>
      <p:sp>
        <p:nvSpPr>
          <p:cNvPr id="3" name="Rectangle 2"/>
          <p:cNvSpPr/>
          <p:nvPr/>
        </p:nvSpPr>
        <p:spPr>
          <a:xfrm>
            <a:off x="1272025" y="673662"/>
            <a:ext cx="5775755" cy="461665"/>
          </a:xfrm>
          <a:prstGeom prst="rect">
            <a:avLst/>
          </a:prstGeom>
        </p:spPr>
        <p:txBody>
          <a:bodyPr wrap="square">
            <a:spAutoFit/>
          </a:bodyPr>
          <a:lstStyle/>
          <a:p>
            <a:r>
              <a:rPr lang="en-IN" sz="2400" b="1" dirty="0">
                <a:latin typeface="Times New Roman" panose="02020603050405020304" pitchFamily="18" charset="0"/>
                <a:cs typeface="Times New Roman" panose="02020603050405020304" pitchFamily="18" charset="0"/>
              </a:rPr>
              <a:t>ADVANTAGE</a:t>
            </a:r>
            <a:endParaRPr lang="en-IN" sz="2400" dirty="0"/>
          </a:p>
        </p:txBody>
      </p:sp>
    </p:spTree>
    <p:extLst>
      <p:ext uri="{BB962C8B-B14F-4D97-AF65-F5344CB8AC3E}">
        <p14:creationId xmlns:p14="http://schemas.microsoft.com/office/powerpoint/2010/main" val="1872106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anose="02020603050405020304" pitchFamily="18" charset="0"/>
                <a:cs typeface="Times New Roman" panose="02020603050405020304" pitchFamily="18" charset="0"/>
              </a:rPr>
              <a:t>LIMITATION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IN" sz="2400" dirty="0">
                <a:latin typeface="Times New Roman" panose="02020603050405020304" pitchFamily="18" charset="0"/>
                <a:cs typeface="Times New Roman" panose="02020603050405020304" pitchFamily="18" charset="0"/>
              </a:rPr>
              <a:t>We are developing a website for casting the vote online. While casting the vote the most important thing is security. We are providing security through the OTP authentication . OTP also provides strong security but it would be more secure if we use fingerprint detection and cornea detection and map it with the </a:t>
            </a:r>
            <a:r>
              <a:rPr lang="en-IN" sz="2400" dirty="0" err="1">
                <a:latin typeface="Times New Roman" panose="02020603050405020304" pitchFamily="18" charset="0"/>
                <a:cs typeface="Times New Roman" panose="02020603050405020304" pitchFamily="18" charset="0"/>
              </a:rPr>
              <a:t>aadhar</a:t>
            </a:r>
            <a:r>
              <a:rPr lang="en-IN" sz="2400" dirty="0">
                <a:latin typeface="Times New Roman" panose="02020603050405020304" pitchFamily="18" charset="0"/>
                <a:cs typeface="Times New Roman" panose="02020603050405020304" pitchFamily="18" charset="0"/>
              </a:rPr>
              <a:t> database details.</a:t>
            </a:r>
          </a:p>
          <a:p>
            <a:endParaRPr lang="en-IN" dirty="0"/>
          </a:p>
        </p:txBody>
      </p:sp>
    </p:spTree>
    <p:extLst>
      <p:ext uri="{BB962C8B-B14F-4D97-AF65-F5344CB8AC3E}">
        <p14:creationId xmlns:p14="http://schemas.microsoft.com/office/powerpoint/2010/main" val="874655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14474169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91</TotalTime>
  <Words>590</Words>
  <Application>Microsoft Office PowerPoint</Application>
  <PresentationFormat>Widescreen</PresentationFormat>
  <Paragraphs>47</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Century Gothic</vt:lpstr>
      <vt:lpstr>Times New Roman</vt:lpstr>
      <vt:lpstr>Wingdings</vt:lpstr>
      <vt:lpstr>Wingdings 3</vt:lpstr>
      <vt:lpstr>Ion</vt:lpstr>
      <vt:lpstr>K.K.COLLAGE OF ENGINEERING &amp; MANAGEMENT</vt:lpstr>
      <vt:lpstr>OUTLINES</vt:lpstr>
      <vt:lpstr>introduction</vt:lpstr>
      <vt:lpstr>Problem Statement </vt:lpstr>
      <vt:lpstr>System Architecture </vt:lpstr>
      <vt:lpstr> </vt:lpstr>
      <vt:lpstr>TECHNOLOGY USED</vt:lpstr>
      <vt:lpstr>PowerPoint Presentation</vt:lpstr>
      <vt:lpstr>ADVANTAGE</vt:lpstr>
      <vt:lpstr>PowerPoint Presentation</vt:lpstr>
      <vt:lpstr>LIMITATION</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K.K.COLLAGE OF ENGINEERING &amp; MANAGEMENT</dc:title>
  <dc:creator>Microsoft account</dc:creator>
  <cp:lastModifiedBy>Microsoft account</cp:lastModifiedBy>
  <cp:revision>11</cp:revision>
  <dcterms:created xsi:type="dcterms:W3CDTF">2025-11-23T16:39:56Z</dcterms:created>
  <dcterms:modified xsi:type="dcterms:W3CDTF">2025-11-23T18:11:47Z</dcterms:modified>
</cp:coreProperties>
</file>